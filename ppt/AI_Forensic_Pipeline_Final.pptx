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-316" y="-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1" y="0"/>
            <a:ext cx="9143999" cy="385157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16886"/>
            <a:ext cx="8077200" cy="1255014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8077200" cy="1124712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0" y="3846251"/>
            <a:ext cx="9144000" cy="3429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586"/>
            <a:ext cx="8229600" cy="939546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195189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1951890"/>
            <a:ext cx="9144000" cy="3429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89154"/>
            <a:ext cx="8013192" cy="1227582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371600"/>
            <a:ext cx="8022336" cy="51435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0452"/>
            <a:ext cx="4038600" cy="346786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0452"/>
            <a:ext cx="4038600" cy="34678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4241"/>
            <a:ext cx="4040188" cy="536516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37134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4241"/>
            <a:ext cx="4041775" cy="536516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37134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14300"/>
            <a:ext cx="2523744" cy="733806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8" y="1307350"/>
            <a:ext cx="5920641" cy="34191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297514"/>
            <a:ext cx="2468880" cy="3429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090422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090422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16586"/>
            <a:ext cx="2525150" cy="733806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6" y="1113606"/>
            <a:ext cx="6247397" cy="4029894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296162"/>
            <a:ext cx="2468880" cy="3429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877824"/>
            <a:ext cx="2523744" cy="150876"/>
          </a:xfrm>
        </p:spPr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51435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51435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877824"/>
            <a:ext cx="5193792" cy="150876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877824"/>
            <a:ext cx="733864" cy="150876"/>
          </a:xfrm>
        </p:spPr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51435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8" y="0"/>
            <a:ext cx="2514601" cy="51435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05980"/>
            <a:ext cx="1905000" cy="4388644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4388644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4783095"/>
            <a:ext cx="3836404" cy="273844"/>
          </a:xfrm>
        </p:spPr>
        <p:txBody>
          <a:bodyPr/>
          <a:lstStyle/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076921"/>
            <a:ext cx="9144000" cy="3429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1" y="0"/>
            <a:ext cx="9143999" cy="10753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938297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1394"/>
            <a:ext cx="8229600" cy="3469207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857749"/>
            <a:ext cx="2133600" cy="20574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F6BCBE8-30B0-4476-8762-9236B142003A}" type="datetimeFigureOut">
              <a:rPr lang="en-US" smtClean="0"/>
              <a:pPr/>
              <a:t>4/10/2026</a:t>
            </a:fld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7" y="4857749"/>
            <a:ext cx="5507719" cy="20574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 algn="r" eaLnBrk="1" latinLnBrk="0" hangingPunct="1"/>
            <a:endParaRPr kumimoji="0" lang="en-US" sz="11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4857749"/>
            <a:ext cx="733864" cy="20574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 algn="l" eaLnBrk="1" latinLnBrk="0" hangingPunct="1"/>
            <a:fld id="{09CEB3EB-F4F2-46F4-8867-D3C68411A9A0}" type="slidenum">
              <a:rPr kumimoji="0" lang="en-US" smtClean="0"/>
              <a:pPr algn="l" eaLnBrk="1" latinLnBrk="0" hangingPunct="1"/>
              <a:t>‹#›</a:t>
            </a:fld>
            <a:endParaRPr kumimoji="0" lang="en-US" sz="120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0"/>
            <a:ext cx="36576" cy="514350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18872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Forensics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7080"/>
                </a:solidFill>
              </a:rPr>
              <a:t>End-to-end threat detection using Isolation Forest ML,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7080"/>
                </a:solidFill>
              </a:rPr>
              <a:t>MITRE ATT&amp;CK mapping, SSE streaming, and LLM-generated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A7080"/>
                </a:solidFill>
              </a:rPr>
              <a:t>forensic reports via a Flask web application.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097280"/>
            <a:ext cx="1645920" cy="13716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12801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39496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080"/>
                </a:solidFill>
              </a:rPr>
              <a:t>Pipeline Stages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1097280"/>
            <a:ext cx="1645920" cy="13716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12801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223760" y="1965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080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2743200"/>
            <a:ext cx="1645920" cy="13716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29260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539496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080"/>
                </a:solidFill>
              </a:rPr>
              <a:t>MITRE Techniques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2743200"/>
            <a:ext cx="1645920" cy="13716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29260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22376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080"/>
                </a:solidFill>
              </a:rPr>
              <a:t>AI Reporting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080"/>
                </a:solidFill>
              </a:rPr>
              <a:t>Preet Shah  ·  MTech AIDS  ·  NFSU Goa  ·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5A7080"/>
                </a:solidFill>
              </a:rPr>
              <a:t>[ </a:t>
            </a:r>
            <a:r>
              <a:rPr lang="en-US" sz="850" kern="0" spc="150" dirty="0">
                <a:solidFill>
                  <a:srgbClr val="00D97E"/>
                </a:solidFill>
              </a:rPr>
              <a:t>AI FORENSIC PIPELINE</a:t>
            </a:r>
            <a:r>
              <a:rPr lang="en-US" sz="850" kern="0" spc="150" dirty="0">
                <a:solidFill>
                  <a:srgbClr val="5A7080"/>
                </a:solidFill>
              </a:rPr>
              <a:t> ]  —  </a:t>
            </a:r>
            <a:r>
              <a:rPr lang="en-US" sz="850" kern="0" spc="150" dirty="0">
                <a:solidFill>
                  <a:srgbClr val="8FAAB8"/>
                </a:solidFill>
              </a:rPr>
              <a:t>PROJECT OVERVIEW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46634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Ingests Windows EVTX logs (Security &amp; System) and Mordor attack-simulation JSON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Applies rule-based threat hunting with keyword &amp; Event ID matching + rich description enrichment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Maps each event to 13 MITRE ATT&amp;CK techniques/tactics automatically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Filters noise events (6013, 6005, 6006) before ML to reduce false positives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Uses Isolation Forest (200 trees) to score every event for anomaly likelihood (0–100)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Chains suspicious events into coherent attack narratives via temporal gap clustering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Streams live progress to the browser via Server-Sent Events (SSE) — zero polling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C8D8E8"/>
                </a:solidFill>
              </a:rPr>
              <a:t>Produces a visual dashboard + LLM-authored report via Groq API (LLaMA-3.3-70B)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57800" y="457200"/>
            <a:ext cx="3566160" cy="438912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57800" y="457200"/>
            <a:ext cx="45720" cy="438912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5669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7E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93268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3B82F6"/>
                </a:solidFill>
              </a:rPr>
              <a:t>Web Layer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40680" y="11338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80"/>
                </a:solidFill>
              </a:rPr>
              <a:t>Flask 3 · Werkzeug · SSE (text/event-stream)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1453896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55448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00D97E"/>
                </a:solidFill>
              </a:rPr>
              <a:t>Data Layer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40680" y="17556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80"/>
                </a:solidFill>
              </a:rPr>
              <a:t>pandas · python-evtx · xml.etree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075688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17627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FFA502"/>
                </a:solidFill>
              </a:rPr>
              <a:t>ML / Detection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40680" y="2377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80"/>
                </a:solidFill>
              </a:rPr>
              <a:t>scikit-learn · IsolationForest · LabelEncoder · MinMaxScaler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2697480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79806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8B5CF6"/>
                </a:solidFill>
              </a:rPr>
              <a:t>AI Reporting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40680" y="29992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80"/>
                </a:solidFill>
              </a:rPr>
              <a:t>Groq API · LLaMA-3.3-70B-Versatile · 4 000 tokens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3319272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34198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FF4757"/>
                </a:solidFill>
              </a:rPr>
              <a:t>Visualisation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40680" y="36210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80"/>
                </a:solidFill>
              </a:rPr>
              <a:t>matplotlib · gridspec · 3-panel dashboard PNG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3941064"/>
            <a:ext cx="324612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4041648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50" dirty="0">
                <a:solidFill>
                  <a:srgbClr val="8FAAB8"/>
                </a:solidFill>
              </a:rPr>
              <a:t>Runtime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40680" y="424281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080"/>
                </a:solidFill>
              </a:rPr>
              <a:t>Flask dev server · threaded=True · background threads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5A7080"/>
                </a:solidFill>
              </a:rPr>
              <a:t>[ </a:t>
            </a:r>
            <a:r>
              <a:rPr lang="en-US" sz="850" kern="0" spc="150" dirty="0">
                <a:solidFill>
                  <a:srgbClr val="00D97E"/>
                </a:solidFill>
              </a:rPr>
              <a:t>AI FORENSIC PIPELINE</a:t>
            </a:r>
            <a:r>
              <a:rPr lang="en-US" sz="850" kern="0" spc="150" dirty="0">
                <a:solidFill>
                  <a:srgbClr val="5A7080"/>
                </a:solidFill>
              </a:rPr>
              <a:t> ]  —  </a:t>
            </a:r>
            <a:r>
              <a:rPr lang="en-US" sz="850" kern="0" spc="150" dirty="0">
                <a:solidFill>
                  <a:srgbClr val="8FAAB8"/>
                </a:solidFill>
              </a:rPr>
              <a:t>PIPELINE ARCHITECTURE — 6 STAGES + FLASK ROUTES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1335024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Ingest &amp; Unify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EVTX→JSON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Mordor+Sec+Sys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Rich description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build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09344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00784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00784" y="713232"/>
            <a:ext cx="1335024" cy="29260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0784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00784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Threat Hunt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00784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hunt_threats()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700784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Keyword rules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00784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EventID match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00784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Alert tagging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35808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27248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27248" y="713232"/>
            <a:ext cx="1335024" cy="292608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127248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MITRE Map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27248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map_to_mitre()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27248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13 techniques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27248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4 tactics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27248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Tactic labels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62272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53712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53712" y="713232"/>
            <a:ext cx="1335024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53712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ML Detect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53712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IsolationForest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53712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200 estimators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53712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Noise filtered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53712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Risk 0–100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888736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980176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980176" y="713232"/>
            <a:ext cx="1335024" cy="29260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0176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80176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Attack Chain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80176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build_attack_chains()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80176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Time-gap 2 min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80176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Risk aggregation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980176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Chain IDs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315200" y="1444752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F5E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406640" y="713232"/>
            <a:ext cx="1335024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406640" y="713232"/>
            <a:ext cx="1335024" cy="292608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7132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406640" y="1024128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Dashboard+Report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06640" y="13716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3-panel PNG chart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406640" y="164592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Groq LLaMA 70B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406640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4000 tok report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406640" y="219456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080"/>
                </a:solidFill>
              </a:rPr>
              <a:t>MD download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74320" y="2788920"/>
            <a:ext cx="8595360" cy="20574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74320" y="2788920"/>
            <a:ext cx="45720" cy="2057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28712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Flask Web Routes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11480" y="3154680"/>
            <a:ext cx="411480" cy="173736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3154680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POST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14400" y="31546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/api/run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383280" y="315468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Upload EVTX files → creates job_id, spawns pipeline thread, returns job_id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11480" y="3483864"/>
            <a:ext cx="411480" cy="173736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483864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914400" y="348386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/api/stream/&lt;job_id&gt;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383280" y="3483864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SSE stream — pushes progress/log/done/pipeline_error events; keep-alive every 15 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11480" y="3813048"/>
            <a:ext cx="411480" cy="173736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3813048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914400" y="3813048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/api/result/&lt;job_id&gt;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383280" y="3813048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Returns full JSON result once job status = done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11480" y="4142232"/>
            <a:ext cx="411480" cy="173736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4142232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14400" y="414223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/api/chart/&lt;job_id&gt;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3383280" y="4142232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Serves forensic_dashboard.png (3-panel matplotlib figure)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11480" y="4471416"/>
            <a:ext cx="411480" cy="173736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4471416"/>
            <a:ext cx="4114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GET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914400" y="447141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/api/report/download/&lt;job_id&gt;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3383280" y="4471416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Downloads forensic_report.md as attachment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5A7080"/>
                </a:solidFill>
              </a:rPr>
              <a:t>[ </a:t>
            </a:r>
            <a:r>
              <a:rPr lang="en-US" sz="850" kern="0" spc="150" dirty="0">
                <a:solidFill>
                  <a:srgbClr val="00D97E"/>
                </a:solidFill>
              </a:rPr>
              <a:t>AI FORENSIC PIPELINE</a:t>
            </a:r>
            <a:r>
              <a:rPr lang="en-US" sz="850" kern="0" spc="150" dirty="0">
                <a:solidFill>
                  <a:srgbClr val="5A7080"/>
                </a:solidFill>
              </a:rPr>
              <a:t> ]  —  </a:t>
            </a:r>
            <a:r>
              <a:rPr lang="en-US" sz="850" kern="0" spc="150" dirty="0">
                <a:solidFill>
                  <a:srgbClr val="8FAAB8"/>
                </a:solidFill>
              </a:rPr>
              <a:t>DATA SOURCES &amp; INGESTION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2834640" cy="438912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438912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57200"/>
            <a:ext cx="2834640" cy="38404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Windows Security Log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9144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security_local.evtx → security.json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2070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Format: EVTX → JSON via python-evtx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792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Parser: parse_event_xml() — unified XML ns handler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37744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Key IDs: 4624 Logon · 4625 Fail · 4648 Explicit · 1102 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96265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Rich fields: SubjectUserName, TargetUserName, CommandLine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5478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4757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EventType label: "Security Event"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457200"/>
            <a:ext cx="2834640" cy="438912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457200"/>
            <a:ext cx="45720" cy="438912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457200"/>
            <a:ext cx="2834640" cy="38404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Windows System Log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9144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system_local.evtx → system.json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5848" y="12070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Format: EVTX → JSON via python-evtx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5848" y="1792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Same parser (unified parse_event_xml)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237744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Key IDs: 7045 New Service · 7036 State · 6013 Uptime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296265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Noise filter: 6013 / 6005 / 6006 removed before ML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5848" y="35478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A502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EventType label: "System Event"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457200"/>
            <a:ext cx="2834640" cy="438912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457200"/>
            <a:ext cx="45720" cy="4389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57200"/>
            <a:ext cx="283464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Mordor Attack Simulation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9144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empire_launcher_vbs_2020-09-04160940.json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27648" y="1207008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Format: JSONL (lines=True)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27648" y="1792224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Source: Mordor Dataset — open attack simulations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27648" y="237744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Attack: Empire VBS launcher — lateral movement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27648" y="2962656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Fields: EventID, EventTime, Image, TargetFilename, Channel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27648" y="3547872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5CF6"/>
                </a:solidFill>
              </a:rPr>
              <a:t>▸ </a:t>
            </a:r>
            <a:r>
              <a:rPr lang="en-US" sz="900" dirty="0">
                <a:solidFill>
                  <a:srgbClr val="5A7080"/>
                </a:solidFill>
              </a:rPr>
              <a:t>EventType label: "Mordor Attack Simulation"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solidFill>
            <a:srgbClr val="101520"/>
          </a:solidFill>
          <a:ln w="6350">
            <a:solidFill>
              <a:srgbClr val="009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8172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→  All 3 sources concatenated into a single UTC-sorted Unified Forensic Timeline before analysis begins. Common schema: [Timestamp, EventType, Source, EventID, Description]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5A7080"/>
                </a:solidFill>
              </a:rPr>
              <a:t>[ </a:t>
            </a:r>
            <a:r>
              <a:rPr lang="en-US" sz="850" kern="0" spc="150" dirty="0">
                <a:solidFill>
                  <a:srgbClr val="00D97E"/>
                </a:solidFill>
              </a:rPr>
              <a:t>AI FORENSIC PIPELINE</a:t>
            </a:r>
            <a:r>
              <a:rPr lang="en-US" sz="850" kern="0" spc="150" dirty="0">
                <a:solidFill>
                  <a:srgbClr val="5A7080"/>
                </a:solidFill>
              </a:rPr>
              <a:t> ]  —  </a:t>
            </a:r>
            <a:r>
              <a:rPr lang="en-US" sz="850" kern="0" spc="150" dirty="0">
                <a:solidFill>
                  <a:srgbClr val="8FAAB8"/>
                </a:solidFill>
              </a:rPr>
              <a:t>THREAT HUNTING &amp; MITRE ATT&amp;CK MAPPING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246888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2468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757"/>
                </a:solidFill>
              </a:rPr>
              <a:t>hunt_threats() — Rule Engine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71323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14400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07008" y="91440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EventID 1102: Audit Logs Cleared (Defense Evasion)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252728"/>
            <a:ext cx="713232" cy="18288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52728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WARNING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07008" y="125272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EventID 7045: New Service Installed (Persistence)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591056"/>
            <a:ext cx="713232" cy="18288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591056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ALERT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07008" y="159105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powershell / cmd.exe / empire in description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1929384"/>
            <a:ext cx="713232" cy="18288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929384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ALERT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07008" y="192938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.vbs — VBScript execution indicator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2267712"/>
            <a:ext cx="71323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67712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ALERT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07008" y="226771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mimikatz — credential dumping tool signature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2606040"/>
            <a:ext cx="713232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606040"/>
            <a:ext cx="7132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INFO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07008" y="260604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</a:rPr>
              <a:t>Sysmon EventID 1: Process creation logged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63240"/>
            <a:ext cx="45720" cy="182880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54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97E"/>
                </a:solidFill>
              </a:rPr>
              <a:t>Rich Description </a:t>
            </a:r>
            <a:r>
              <a:rPr lang="en-US" sz="1050" b="1" dirty="0" smtClean="0">
                <a:solidFill>
                  <a:srgbClr val="00D97E"/>
                </a:solidFill>
              </a:rPr>
              <a:t>Enrichment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build_description() appends forensic fields so keyword rules match real data: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38221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· CommandLine · ParentImage · ParentCommandLine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114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TargetImage · TargetFilename · ServiceName · ImagePath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4074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SubjectUserName · TargetUserName · WorkstationName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457200"/>
            <a:ext cx="4251960" cy="44348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457200"/>
            <a:ext cx="45720" cy="443484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A502"/>
                </a:solidFill>
              </a:rPr>
              <a:t>MITRE ATT&amp;CK Coverage — 13 Mappings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54880" y="87782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7080"/>
                </a:solidFill>
              </a:rPr>
              <a:t>TID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06440" y="8778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7080"/>
                </a:solidFill>
              </a:rPr>
              <a:t>Technique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98080" y="87782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A7080"/>
                </a:solidFill>
              </a:rPr>
              <a:t>Tactic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1060704"/>
            <a:ext cx="3977640" cy="9144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T1059.001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06440" y="11155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PowerShell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498080" y="11155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Execution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138988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4356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06440" y="14356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VBScript (.vbs)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498080" y="14356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Execution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54880" y="170992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7556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T1059.003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0644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Windows CMD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98080" y="1755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Execution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202996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20756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T1003.001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06440" y="20756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LSASS Dump (mimikatz)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498080" y="20756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Credential Access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235000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54880" y="23957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T1070.001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0644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Clear Event Logs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498080" y="2395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Defense Evasion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0" y="267004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2715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T1543.003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806440" y="2715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New Service (7045)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498080" y="27157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Persistence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54880" y="299008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30358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T1112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5806440" y="30358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Modify Registry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498080" y="30358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Defense Evasion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54880" y="331012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3355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T1053.005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806440" y="3355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Scheduled Task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498080" y="33558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Persistence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54880" y="363016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54880" y="36758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T1033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5806440" y="3675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System User Discovery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498080" y="36758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Discovery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54880" y="395020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54880" y="39959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A50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T1069.001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806440" y="3995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8E8"/>
                </a:solidFill>
              </a:rPr>
              <a:t>Local Groups (net)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498080" y="39959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Discovery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5A7080"/>
                </a:solidFill>
              </a:rPr>
              <a:t>[ </a:t>
            </a:r>
            <a:r>
              <a:rPr lang="en-US" sz="850" kern="0" spc="150" dirty="0">
                <a:solidFill>
                  <a:srgbClr val="00D97E"/>
                </a:solidFill>
              </a:rPr>
              <a:t>AI FORENSIC PIPELINE</a:t>
            </a:r>
            <a:r>
              <a:rPr lang="en-US" sz="850" kern="0" spc="150" dirty="0">
                <a:solidFill>
                  <a:srgbClr val="5A7080"/>
                </a:solidFill>
              </a:rPr>
              <a:t> ]  —  </a:t>
            </a:r>
            <a:r>
              <a:rPr lang="en-US" sz="850" kern="0" spc="150" dirty="0">
                <a:solidFill>
                  <a:srgbClr val="8FAAB8"/>
                </a:solidFill>
              </a:rPr>
              <a:t>ML ANOMALY DETECTION — ISOLATION FOREST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246888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2468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8961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EventID_encoded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078992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LabelEncoder on EventID strings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2893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Source_encoded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472184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LabelEncoder on provider/channel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6824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ProcessName_encoded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1865376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extract_process() → regex .exe → EventID map → source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0756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Time_numeric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258568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UTC timestamp → Unix seconds (int64)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4688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TimeDelta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3703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Diff between consecutive events, clipped at 3 600 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63240"/>
            <a:ext cx="4572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54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IsolationForest Config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493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contamination  =  "auto"  (inferred from data)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 =  200 trees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096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  =  42  (reproducible results)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398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n_jobs  =  -1  (all CPU cores)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457200"/>
            <a:ext cx="4251960" cy="201168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457200"/>
            <a:ext cx="45720" cy="20116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757"/>
                </a:solidFill>
              </a:rPr>
              <a:t>Noise Event </a:t>
            </a:r>
            <a:r>
              <a:rPr lang="en-US" sz="1050" b="1" dirty="0" smtClean="0">
                <a:solidFill>
                  <a:srgbClr val="FF4757"/>
                </a:solidFill>
              </a:rPr>
              <a:t>Filter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87782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Known benign periodic events removed before ML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7080"/>
                </a:solidFill>
              </a:rPr>
              <a:t>to eliminate false-positive anomalies: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353312"/>
            <a:ext cx="45720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3533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6013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85232" y="13533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System uptime log — fires every 24 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1682496"/>
            <a:ext cx="45720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6824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85232" y="16824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EventLog service started — normal boot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2011680"/>
            <a:ext cx="45720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0116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85232" y="2011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EventLog service stopped — normal shutdown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2606040"/>
            <a:ext cx="4251960" cy="228600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606040"/>
            <a:ext cx="45720" cy="228600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97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97E"/>
                </a:solidFill>
              </a:rPr>
              <a:t>Output Columns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54880" y="306324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AnomalyScore_raw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32461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−1 = anomaly · +1 = normal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4880" y="3493008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AnomalyScore_confidence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46320" y="367588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decision_function() raw score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54880" y="3922776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RiskScore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410565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MinMaxScaler → 0–100 (higher = riskier)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754880" y="4352544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ProcessName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46320" y="45354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Regex-extracted .exe name or EventID label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5A7080"/>
                </a:solidFill>
              </a:rPr>
              <a:t>[ </a:t>
            </a:r>
            <a:r>
              <a:rPr lang="en-US" sz="850" kern="0" spc="150" dirty="0">
                <a:solidFill>
                  <a:srgbClr val="00D97E"/>
                </a:solidFill>
              </a:rPr>
              <a:t>AI FORENSIC PIPELINE</a:t>
            </a:r>
            <a:r>
              <a:rPr lang="en-US" sz="850" kern="0" spc="150" dirty="0">
                <a:solidFill>
                  <a:srgbClr val="5A7080"/>
                </a:solidFill>
              </a:rPr>
              <a:t> ]  —  </a:t>
            </a:r>
            <a:r>
              <a:rPr lang="en-US" sz="850" kern="0" spc="150" dirty="0">
                <a:solidFill>
                  <a:srgbClr val="8FAAB8"/>
                </a:solidFill>
              </a:rPr>
              <a:t>ATTACK CHAIN RECONSTRUCTION &amp; AI REPORT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26060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26060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build_attack_chains()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950976"/>
            <a:ext cx="256032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950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" y="95097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8952" y="115214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Events sorted chronologically by Timestamp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1463040"/>
            <a:ext cx="256032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" y="146304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Gap detect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58952" y="166420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Time gap &gt; 2 min → new chain begins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1975104"/>
            <a:ext cx="256032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75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8952" y="1975104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Chain 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58952" y="217627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Incrementing integer assigned per chain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487168"/>
            <a:ext cx="256032" cy="2560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87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8952" y="2487168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Aggregation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8952" y="26883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EventCount · AvgRisk · MaxRisk · Techniques · Tactics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4114800" cy="16916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00400"/>
            <a:ext cx="45720" cy="1691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91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Real-time SSE </a:t>
            </a:r>
            <a:r>
              <a:rPr lang="en-US" sz="1050" b="1" dirty="0" smtClean="0">
                <a:solidFill>
                  <a:srgbClr val="3B82F6"/>
                </a:solidFill>
              </a:rPr>
              <a:t>Streaming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36301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37360" y="363016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Pushes stage name + % complete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9319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37360" y="393192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Streams each pipeline log line instantly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23367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37360" y="42336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Signals browser to fetch results JSON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45354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pipeline_error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37360" y="453542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Reports failure with full traceback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457200"/>
            <a:ext cx="4251960" cy="44348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457200"/>
            <a:ext cx="45720" cy="4434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</a:rPr>
              <a:t>AI Report via Groq API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54880" y="8686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LLaMA-3.3-70B-Versatile  ·  max_tokens: 4 000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11704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AB8"/>
                </a:solidFill>
              </a:rPr>
              <a:t>Context built from: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14081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5CF6"/>
                </a:solidFill>
              </a:rPr>
              <a:t>▸ </a:t>
            </a:r>
            <a:r>
              <a:rPr lang="en-US" sz="850" dirty="0">
                <a:solidFill>
                  <a:srgbClr val="5A7080"/>
                </a:solidFill>
              </a:rPr>
              <a:t>Top 5 anomalies by RiskScore (timestamp + technique + description)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46320" y="17099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5CF6"/>
                </a:solidFill>
              </a:rPr>
              <a:t>▸ </a:t>
            </a:r>
            <a:r>
              <a:rPr lang="en-US" sz="850" dirty="0">
                <a:solidFill>
                  <a:srgbClr val="5A7080"/>
                </a:solidFill>
              </a:rPr>
              <a:t>Top 5 MITRE technique/tactic pairs by frequency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46320" y="20116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5CF6"/>
                </a:solidFill>
              </a:rPr>
              <a:t>▸ </a:t>
            </a:r>
            <a:r>
              <a:rPr lang="en-US" sz="850" dirty="0">
                <a:solidFill>
                  <a:srgbClr val="5A7080"/>
                </a:solidFill>
              </a:rPr>
              <a:t>Top 5 high-risk process names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46320" y="23134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5CF6"/>
                </a:solidFill>
              </a:rPr>
              <a:t>▸ </a:t>
            </a:r>
            <a:r>
              <a:rPr lang="en-US" sz="850" dirty="0">
                <a:solidFill>
                  <a:srgbClr val="5A7080"/>
                </a:solidFill>
              </a:rPr>
              <a:t>Top 3 attack chains (EventCount, MaxRisk, Techniques, Tactics)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54880" y="2670048"/>
            <a:ext cx="3977640" cy="91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74320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</a:rPr>
              <a:t>Report Sections (8)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1. Executive Summary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5800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2. Investigation Timeline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54880" y="33467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3. Threat Actor Behavior Analysis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33467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4. Key Indicators of Compromise (IOCs)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54880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5. Attack Chain Reconstruction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58000" y="36941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6. Risk Assessment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5488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7. Recommended Immediate Actions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858000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8. Analyst Notes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5A7080"/>
                </a:solidFill>
              </a:rPr>
              <a:t>[ </a:t>
            </a:r>
            <a:r>
              <a:rPr lang="en-US" sz="850" kern="0" spc="150" dirty="0">
                <a:solidFill>
                  <a:srgbClr val="00D97E"/>
                </a:solidFill>
              </a:rPr>
              <a:t>AI FORENSIC PIPELINE</a:t>
            </a:r>
            <a:r>
              <a:rPr lang="en-US" sz="850" kern="0" spc="150" dirty="0">
                <a:solidFill>
                  <a:srgbClr val="5A7080"/>
                </a:solidFill>
              </a:rPr>
              <a:t> ]  —  </a:t>
            </a:r>
            <a:r>
              <a:rPr lang="en-US" sz="850" kern="0" spc="150" dirty="0">
                <a:solidFill>
                  <a:srgbClr val="8FAAB8"/>
                </a:solidFill>
              </a:rPr>
              <a:t>FLASK WEB UI &amp; FORENSIC DASHBOARD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44348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443484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97E"/>
                </a:solidFill>
              </a:rPr>
              <a:t>3-Screen Single-Page Application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8961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97E"/>
                </a:solidFill>
              </a:rPr>
              <a:t>Upload Screen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1155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Drag-and-drop zones for Security &amp; System EVTX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3624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DataTransfer API for native file drag support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6093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Form validation + Run Forensic Pipeline button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0025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97E"/>
                </a:solidFill>
              </a:rPr>
              <a:t>Progress Screen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2219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Connects to SSE stream immediately after job_id received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Live progress bar + stage label (per SSE event)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27157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Scrolling terminal log · auto-transitions on done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31089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97E"/>
                </a:solidFill>
              </a:rPr>
              <a:t>Results Screen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3284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6 metric tiles: Events · Anomalies · Risk · MITRE · Agreement · Chains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3575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Embedded 3-panel forensic dashboard PNG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38221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MITRE tactic bars · Alert classification bars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40690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Attack chain table · High-risk process list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43159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009F5E"/>
                </a:solidFill>
              </a:rPr>
              <a:t>▸ </a:t>
            </a:r>
            <a:r>
              <a:rPr lang="en-US" sz="800" dirty="0">
                <a:solidFill>
                  <a:srgbClr val="5A7080"/>
                </a:solidFill>
              </a:rPr>
              <a:t>Scrollable AI report + Download Report (.md)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457200"/>
            <a:ext cx="4251960" cy="44348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457200"/>
            <a:ext cx="45720" cy="4434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</a:rPr>
              <a:t>Forensic Dashboard — 3 Panels (matplotlib)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960120"/>
            <a:ext cx="502920" cy="201168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601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40096" y="96012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7E"/>
                </a:solidFill>
              </a:rPr>
              <a:t>Event Timing Distribution (full width)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1207008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Overlapping density histograms of TimeDelta for Normal vs Anomalous events. Green = normal, red = anomalous. X-axis clipped at 300 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2057400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167128"/>
            <a:ext cx="502920" cy="20116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1671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340096" y="216712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502"/>
                </a:solidFill>
              </a:rPr>
              <a:t>Risk Score Timeline (bottom-left)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414016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Scatter plot of all events over time. Color-coded: green for normal (+1), red for anomalous (−1). Y-axis = RiskScore 0–100.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264408"/>
            <a:ext cx="3977640" cy="9144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374136"/>
            <a:ext cx="502920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374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Panel 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40096" y="337413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</a:rPr>
              <a:t>MITRE Tactic Distribution (bottom-right)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362102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A7080"/>
                </a:solidFill>
              </a:rPr>
              <a:t>Horizontal bar chart of tactic event counts. Colors cycle through 6-color palette. Shows top tactics at a glance.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5A7080"/>
                </a:solidFill>
              </a:rPr>
              <a:t>[ </a:t>
            </a:r>
            <a:r>
              <a:rPr lang="en-US" sz="850" kern="0" spc="150" dirty="0">
                <a:solidFill>
                  <a:srgbClr val="00D97E"/>
                </a:solidFill>
              </a:rPr>
              <a:t>AI FORENSIC PIPELINE</a:t>
            </a:r>
            <a:r>
              <a:rPr lang="en-US" sz="850" kern="0" spc="150" dirty="0">
                <a:solidFill>
                  <a:srgbClr val="5A7080"/>
                </a:solidFill>
              </a:rPr>
              <a:t> ]  —  </a:t>
            </a:r>
            <a:r>
              <a:rPr lang="en-US" sz="850" kern="0" spc="150" dirty="0">
                <a:solidFill>
                  <a:srgbClr val="8FAAB8"/>
                </a:solidFill>
              </a:rPr>
              <a:t>CODE REVIEW — BUGS FOUND &amp; FIXES VALIDATED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8229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57200"/>
            <a:ext cx="822960" cy="21945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572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70432" y="4754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MITRE_MAPPINGS scope — NameError crash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0" y="4572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4572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" y="7315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68680" y="7315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080"/>
                </a:solidFill>
              </a:rPr>
              <a:t>Dict defined inside hunt_threats() after return — dead code. map_to_mitre() referenced it as a global → NameError at runtime.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9692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9692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AB8"/>
                </a:solidFill>
              </a:rPr>
              <a:t>Moved MITRE_MAPPINGS to module scope (top-level, before both functions). Now a true global — all 13 mappings resolve correctly.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3716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371600"/>
            <a:ext cx="45720" cy="82296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371600"/>
            <a:ext cx="822960" cy="21945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3716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70432" y="13898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map_to_mitre() crash cascade — resolved by Fix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0" y="13716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13716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0040" y="16459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68680" y="16459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080"/>
                </a:solidFill>
              </a:rPr>
              <a:t>Every call to apply threat hunting crashed with NameError: "MITRE_MAPPINGS" is not defined.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18836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18836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AB8"/>
                </a:solidFill>
              </a:rPr>
              <a:t>Automatically resolved when MITRE_MAPPINGS moved to module scope. Verified: tactic distribution populated correctly in results.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2860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286000"/>
            <a:ext cx="45720" cy="82296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286000"/>
            <a:ext cx="822960" cy="219456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2860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MODERATE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70432" y="23042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Fragile index alignment in attack chain RiskScore assignment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229600" y="22860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22860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0040" y="25603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8680" y="25603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080"/>
                </a:solidFill>
              </a:rPr>
              <a:t>ml_full produced with reset_index(drop=True). threat_df retained original filtered indices → index mismatch → NaN or wrong scores.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" y="27980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22960" y="27980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AB8"/>
                </a:solidFill>
              </a:rPr>
              <a:t>threat_df["RiskScore"] = ml_df.loc[threat_df.index, "RiskScore"].values  — uses .loc on the source before reset_index. Correct scores now propagate.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32004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200400"/>
            <a:ext cx="45720" cy="82296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200400"/>
            <a:ext cx="822960" cy="219456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2004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MODERATE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70432" y="32186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Noise events causing false ML anomalies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29600" y="32004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0" y="32004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20040" y="34747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68680" y="3474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080"/>
                </a:solidFill>
              </a:rPr>
              <a:t>EventIDs 6013 (uptime, daily), 6005, 6006 have fixed large TimeDelta — Isolation Forest always flagged them as anomalous.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0040" y="37124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" y="37124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AB8"/>
                </a:solidFill>
              </a:rPr>
              <a:t>NOISE_EVENT_IDS set created; ml_df pre-filtered before feature matrix construction. False-positive rate significantly reduced.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4320" y="4114800"/>
            <a:ext cx="4572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4114800"/>
            <a:ext cx="82296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11480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MINOR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170432" y="4133088"/>
            <a:ext cx="6675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Mordor scalar defaults silently losing EventID data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229600" y="4114800"/>
            <a:ext cx="548640" cy="219456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0" y="411480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FIXED ✓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320040" y="438912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4757"/>
                </a:solidFill>
              </a:rPr>
              <a:t>Before: 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68680" y="43891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7080"/>
                </a:solidFill>
              </a:rPr>
              <a:t>df_m.get("EventID", 0) returns int 0 when column absent → assigning scalar to DataFrame column creates NaN column.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0040" y="4626864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97E"/>
                </a:solidFill>
              </a:rPr>
              <a:t>After: 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22960" y="4626864"/>
            <a:ext cx="7909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AB8"/>
                </a:solidFill>
              </a:rPr>
              <a:t>pd.Series(0, index=df_mordor.index) used as explicit fallback. Column always a proper Series regardless of source shape.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29184"/>
          </a:xfrm>
          <a:prstGeom prst="rect">
            <a:avLst/>
          </a:prstGeom>
          <a:solidFill>
            <a:srgbClr val="101520"/>
          </a:solidFill>
          <a:ln w="12700">
            <a:solidFill>
              <a:srgbClr val="10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5A7080"/>
                </a:solidFill>
              </a:rPr>
              <a:t>[ </a:t>
            </a:r>
            <a:r>
              <a:rPr lang="en-US" sz="850" kern="0" spc="150" dirty="0">
                <a:solidFill>
                  <a:srgbClr val="00D97E"/>
                </a:solidFill>
              </a:rPr>
              <a:t>AI FORENSIC PIPELINE</a:t>
            </a:r>
            <a:r>
              <a:rPr lang="en-US" sz="850" kern="0" spc="150" dirty="0">
                <a:solidFill>
                  <a:srgbClr val="5A7080"/>
                </a:solidFill>
              </a:rPr>
              <a:t> ]  —  </a:t>
            </a:r>
            <a:r>
              <a:rPr lang="en-US" sz="850" kern="0" spc="150" dirty="0">
                <a:solidFill>
                  <a:srgbClr val="8FAAB8"/>
                </a:solidFill>
              </a:rPr>
              <a:t>SUMMARY &amp; RECOMMENDATIONS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457200"/>
            <a:ext cx="4114800" cy="26060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457200"/>
            <a:ext cx="45720" cy="2606040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48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7E"/>
                </a:solidFill>
              </a:rPr>
              <a:t>Strengths 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r>
              <a:rPr lang="en-US" sz="850" dirty="0">
                <a:solidFill>
                  <a:srgbClr val="C8D8E8"/>
                </a:solidFill>
              </a:rPr>
              <a:t>Modular 6-stage pipeline — each function independently testable &amp; replaceable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1658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r>
              <a:rPr lang="en-US" sz="850" dirty="0">
                <a:solidFill>
                  <a:srgbClr val="C8D8E8"/>
                </a:solidFill>
              </a:rPr>
              <a:t>Flask web app with SSE streaming — real-time progress, zero polling overhead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435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r>
              <a:rPr lang="en-US" sz="850" dirty="0">
                <a:solidFill>
                  <a:srgbClr val="C8D8E8"/>
                </a:solidFill>
              </a:rPr>
              <a:t>Rich description enrichment ensures keyword rules match actual event payload data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7053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r>
              <a:rPr lang="en-US" sz="850" dirty="0">
                <a:solidFill>
                  <a:srgbClr val="C8D8E8"/>
                </a:solidFill>
              </a:rPr>
              <a:t>Noise event filtering (6013/6005/6006) reduces false-positive anomaly rate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975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r>
              <a:rPr lang="en-US" sz="850" dirty="0">
                <a:solidFill>
                  <a:srgbClr val="C8D8E8"/>
                </a:solidFill>
              </a:rPr>
              <a:t>MITRE ATT&amp;CK coverage: 13 techniques across 4 tactics with automatic mapping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2448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r>
              <a:rPr lang="en-US" sz="850" dirty="0">
                <a:solidFill>
                  <a:srgbClr val="C8D8E8"/>
                </a:solidFill>
              </a:rPr>
              <a:t>Dual-validation: rule-based + ML anomaly detection for cross-confirmation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514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r>
              <a:rPr lang="en-US" sz="850" dirty="0">
                <a:solidFill>
                  <a:srgbClr val="C8D8E8"/>
                </a:solidFill>
              </a:rPr>
              <a:t>LLM-generated 8-section forensic report reduces analyst report-writing time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7843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D97E"/>
                </a:solidFill>
              </a:rPr>
              <a:t>✓  </a:t>
            </a:r>
            <a:r>
              <a:rPr lang="en-US" sz="850" dirty="0">
                <a:solidFill>
                  <a:srgbClr val="C8D8E8"/>
                </a:solidFill>
              </a:rPr>
              <a:t>All critical &amp; moderate bugs identified and resolved in production code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457200"/>
            <a:ext cx="4251960" cy="26060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457200"/>
            <a:ext cx="45720" cy="2606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5486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Future Improvements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8961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r>
              <a:rPr lang="en-US" sz="850" dirty="0">
                <a:solidFill>
                  <a:srgbClr val="5A7080"/>
                </a:solidFill>
              </a:rPr>
              <a:t>Network log integration (firewall, DNS, proxy) as 4th data source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1658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r>
              <a:rPr lang="en-US" sz="850" dirty="0">
                <a:solidFill>
                  <a:srgbClr val="5A7080"/>
                </a:solidFill>
              </a:rPr>
              <a:t>Real-time streaming ingestion via Kafka or Kinesis for live SIEM feeds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4356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r>
              <a:rPr lang="en-US" sz="850" dirty="0">
                <a:solidFill>
                  <a:srgbClr val="5A7080"/>
                </a:solidFill>
              </a:rPr>
              <a:t>STIX 2.1 / TAXII export for threat intelligence sharing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170535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r>
              <a:rPr lang="en-US" sz="850" dirty="0">
                <a:solidFill>
                  <a:srgbClr val="5A7080"/>
                </a:solidFill>
              </a:rPr>
              <a:t>Streamlit or Plotly Dash interactive dashboard (live sliceable data)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9751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r>
              <a:rPr lang="en-US" sz="850" dirty="0">
                <a:solidFill>
                  <a:srgbClr val="5A7080"/>
                </a:solidFill>
              </a:rPr>
              <a:t>Multi-model LLM ensemble (GPT-4o + LLaMA) for report quality improvement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24485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r>
              <a:rPr lang="en-US" sz="850" dirty="0">
                <a:solidFill>
                  <a:srgbClr val="5A7080"/>
                </a:solidFill>
              </a:rPr>
              <a:t>Redis-backed job store (replace in-memory dict for multi-worker deployments)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25146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r>
              <a:rPr lang="en-US" sz="850" dirty="0">
                <a:solidFill>
                  <a:srgbClr val="5A7080"/>
                </a:solidFill>
              </a:rPr>
              <a:t>Unit tests for hunt_threats(), map_to_mitre(), build_attack_chains()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27843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B82F6"/>
                </a:solidFill>
              </a:rPr>
              <a:t>→  </a:t>
            </a:r>
            <a:r>
              <a:rPr lang="en-US" sz="850" dirty="0">
                <a:solidFill>
                  <a:srgbClr val="5A7080"/>
                </a:solidFill>
              </a:rPr>
              <a:t>Docker container + CI pipeline for reproducible deployment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200400"/>
            <a:ext cx="8595360" cy="1691640"/>
          </a:xfrm>
          <a:prstGeom prst="rect">
            <a:avLst/>
          </a:prstGeom>
          <a:solidFill>
            <a:srgbClr val="141B26"/>
          </a:solidFill>
          <a:ln w="6350">
            <a:solidFill>
              <a:srgbClr val="1E2D3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200400"/>
            <a:ext cx="45720" cy="1691640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291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2"/>
                </a:solidFill>
              </a:rPr>
              <a:t>Remaining Priority Actions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611880"/>
            <a:ext cx="256032" cy="201168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611880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" y="3611880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Add input validation and error handling around EVTX and JSON file reads (empty files, corrupt EVTX)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3913632"/>
            <a:ext cx="256032" cy="20116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13632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9808" y="3913632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Parameterize hardcoded perform_evtx_conversion flag — expose as toggle in web UI or environment variable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4215384"/>
            <a:ext cx="256032" cy="201168"/>
          </a:xfrm>
          <a:prstGeom prst="rect">
            <a:avLst/>
          </a:prstGeom>
          <a:solidFill>
            <a:srgbClr val="FFA502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15384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9808" y="4215384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Unit tests for hunt_threats(), map_to_mitre(), extract_process(), build_attack_chains() with synthetic fixtures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1480" y="4517136"/>
            <a:ext cx="256032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517136"/>
            <a:ext cx="256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49808" y="4517136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080"/>
                </a:solidFill>
              </a:rPr>
              <a:t>Swap in-memory jobs dict for Redis to support multi-worker deployments and job persistence across restarts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C10"/>
          </a:solidFill>
          <a:ln w="12700">
            <a:solidFill>
              <a:srgbClr val="0A0C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29184"/>
            <a:ext cx="9144000" cy="18288"/>
          </a:xfrm>
          <a:prstGeom prst="rect">
            <a:avLst/>
          </a:prstGeom>
          <a:solidFill>
            <a:srgbClr val="009F5E"/>
          </a:solidFill>
          <a:ln w="12700">
            <a:solidFill>
              <a:srgbClr val="009F5E"/>
            </a:solidFill>
            <a:prstDash val="solid"/>
          </a:ln>
        </p:spPr>
      </p:sp>
      <p:sp>
        <p:nvSpPr>
          <p:cNvPr id="45" name="Text 5"/>
          <p:cNvSpPr/>
          <p:nvPr/>
        </p:nvSpPr>
        <p:spPr>
          <a:xfrm>
            <a:off x="2800748" y="1681729"/>
            <a:ext cx="3759912" cy="1367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000" b="1" dirty="0" smtClean="0">
                <a:solidFill>
                  <a:srgbClr val="FFFFFF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Script MT Bold" pitchFamily="66" charset="0"/>
                <a:ea typeface="Consolas" pitchFamily="34" charset="-122"/>
                <a:cs typeface="Consolas" pitchFamily="34" charset="-120"/>
              </a:rPr>
              <a:t>Thank</a:t>
            </a:r>
            <a:r>
              <a:rPr lang="en-US" sz="6000" b="1" dirty="0" smtClean="0">
                <a:solidFill>
                  <a:srgbClr val="FFFFFF"/>
                </a:solidFill>
                <a:latin typeface="Script MT Bold" pitchFamily="66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6000" b="1" dirty="0" smtClean="0">
                <a:solidFill>
                  <a:srgbClr val="FFFFFF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latin typeface="Script MT Bold" pitchFamily="66" charset="0"/>
                <a:ea typeface="Consolas" pitchFamily="34" charset="-122"/>
                <a:cs typeface="Consolas" pitchFamily="34" charset="-120"/>
              </a:rPr>
              <a:t>You</a:t>
            </a:r>
            <a:endParaRPr lang="en-US" sz="6000" b="1" dirty="0">
              <a:solidFill>
                <a:srgbClr val="FFFFFF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  <a:latin typeface="Script MT Bold" pitchFamily="66" charset="0"/>
              <a:ea typeface="Consolas" pitchFamily="34" charset="-122"/>
              <a:cs typeface="Consolas" pitchFamily="34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6648" y="329184"/>
            <a:ext cx="7620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6648" y="2505075"/>
            <a:ext cx="7620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40</TotalTime>
  <Words>1900</Words>
  <Application>Microsoft Office PowerPoint</Application>
  <PresentationFormat>On-screen Show (16:9)</PresentationFormat>
  <Paragraphs>348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Module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Digital Forensics Pipeline</dc:title>
  <dc:subject>PptxGenJS Presentation</dc:subject>
  <dc:creator>Preet Shah</dc:creator>
  <cp:lastModifiedBy>Preet Shah</cp:lastModifiedBy>
  <cp:revision>5</cp:revision>
  <dcterms:created xsi:type="dcterms:W3CDTF">2026-04-10T03:31:42Z</dcterms:created>
  <dcterms:modified xsi:type="dcterms:W3CDTF">2026-04-10T10:03:56Z</dcterms:modified>
</cp:coreProperties>
</file>