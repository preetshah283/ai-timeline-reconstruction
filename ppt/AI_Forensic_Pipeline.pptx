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286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0"/>
            <a:ext cx="11887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384048"/>
            <a:ext cx="11887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768096"/>
            <a:ext cx="11887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152144"/>
            <a:ext cx="11887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1536192"/>
            <a:ext cx="11887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1920240"/>
            <a:ext cx="11887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960120"/>
            <a:ext cx="2103120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9601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14630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Digital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02920" y="21488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 Pipeline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502920" y="297180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threat detection using Isolation Forest ML,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mapping, and LLM-generated forensic reports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023360"/>
            <a:ext cx="1737360" cy="822960"/>
          </a:xfrm>
          <a:prstGeom prst="rect">
            <a:avLst/>
          </a:prstGeom>
          <a:solidFill>
            <a:srgbClr val="1A2F4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4041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02920" y="43708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14600" y="4023360"/>
            <a:ext cx="1737360" cy="822960"/>
          </a:xfrm>
          <a:prstGeom prst="rect">
            <a:avLst/>
          </a:prstGeom>
          <a:solidFill>
            <a:srgbClr val="1A2F4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14600" y="4041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514600" y="43708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26280" y="4023360"/>
            <a:ext cx="1737360" cy="822960"/>
          </a:xfrm>
          <a:prstGeom prst="rect">
            <a:avLst/>
          </a:prstGeom>
          <a:solidFill>
            <a:srgbClr val="1A2F4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26280" y="4041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526280" y="43708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F45"/>
          </a:solidFill>
          <a:ln/>
        </p:spPr>
      </p:sp>
      <p:sp>
        <p:nvSpPr>
          <p:cNvPr id="26" name="Text 2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Forensic Pipeline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F45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Forensic Pipeline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023360" cy="3794760"/>
          </a:xfrm>
          <a:prstGeom prst="rect">
            <a:avLst/>
          </a:prstGeom>
          <a:solidFill>
            <a:srgbClr val="1A2F4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960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Windows EVTX logs (Security &amp; System) and Mordor attack-simulation JSON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6537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rule-based threat hunting with keyword &amp; Event ID matching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4086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each event to MITRE ATT&amp;CK techniques and tactics automatically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81635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Isolation Forest to score every event for anomaly likelihood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suspicious events into coherent attack narratives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76732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visual dashboard + LLM-authored investigation report via Groq 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868680"/>
            <a:ext cx="4251960" cy="3794760"/>
          </a:xfrm>
          <a:prstGeom prst="rect">
            <a:avLst/>
          </a:prstGeom>
          <a:solidFill>
            <a:srgbClr val="1A2F4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444752"/>
            <a:ext cx="54864" cy="43891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444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16276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python-evtx · xml.etree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011680"/>
            <a:ext cx="54864" cy="43891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0116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Detection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21945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IsolationForest · LabelEncoder · MinMaxScaler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578608"/>
            <a:ext cx="54864" cy="43891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5786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7614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· LLaMA-3.3-70B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145536"/>
            <a:ext cx="54864" cy="438912"/>
          </a:xfrm>
          <a:prstGeom prst="rect">
            <a:avLst/>
          </a:prstGeom>
          <a:solidFill>
            <a:srgbClr val="8FA3B1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1455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3284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gridspec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712464"/>
            <a:ext cx="54864" cy="438912"/>
          </a:xfrm>
          <a:prstGeom prst="rect">
            <a:avLst/>
          </a:prstGeom>
          <a:solidFill>
            <a:srgbClr val="6A4C93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7124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38953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· Google Drive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 — 6 Stages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F45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Forensic Pipeline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08760" y="2148840"/>
            <a:ext cx="164592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868680"/>
            <a:ext cx="1325880" cy="3840480"/>
          </a:xfrm>
          <a:prstGeom prst="rect">
            <a:avLst/>
          </a:prstGeom>
          <a:solidFill>
            <a:srgbClr val="1A2F45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868680"/>
            <a:ext cx="132588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0" name="Shape 8"/>
          <p:cNvSpPr/>
          <p:nvPr/>
        </p:nvSpPr>
        <p:spPr>
          <a:xfrm>
            <a:off x="617220" y="10058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8600" y="1536192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Unification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233172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EVTX → JSON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Mordor + Security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System logs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99232" y="2148840"/>
            <a:ext cx="164592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73352" y="868680"/>
            <a:ext cx="1325880" cy="3840480"/>
          </a:xfrm>
          <a:prstGeom prst="rect">
            <a:avLst/>
          </a:prstGeom>
          <a:solidFill>
            <a:srgbClr val="1A2F45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673352" y="868680"/>
            <a:ext cx="132588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7" name="Shape 15"/>
          <p:cNvSpPr/>
          <p:nvPr/>
        </p:nvSpPr>
        <p:spPr>
          <a:xfrm>
            <a:off x="2107692" y="100584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2107692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19072" y="1536192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19072" y="233172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rules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ID matching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tagging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89704" y="2148840"/>
            <a:ext cx="164592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63824" y="868680"/>
            <a:ext cx="1325880" cy="3840480"/>
          </a:xfrm>
          <a:prstGeom prst="rect">
            <a:avLst/>
          </a:prstGeom>
          <a:solidFill>
            <a:srgbClr val="1A2F45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63824" y="868680"/>
            <a:ext cx="132588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4" name="Shape 22"/>
          <p:cNvSpPr/>
          <p:nvPr/>
        </p:nvSpPr>
        <p:spPr>
          <a:xfrm>
            <a:off x="3598164" y="100584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5" name="Text 23"/>
          <p:cNvSpPr/>
          <p:nvPr/>
        </p:nvSpPr>
        <p:spPr>
          <a:xfrm>
            <a:off x="3598164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209544" y="1536192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9544" y="233172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technique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 labels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80176" y="2148840"/>
            <a:ext cx="164592" cy="0"/>
          </a:xfrm>
          <a:prstGeom prst="line">
            <a:avLst/>
          </a:prstGeom>
          <a:noFill/>
          <a:ln w="25400">
            <a:solidFill>
              <a:srgbClr val="6A4C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54296" y="868680"/>
            <a:ext cx="1325880" cy="3840480"/>
          </a:xfrm>
          <a:prstGeom prst="rect">
            <a:avLst/>
          </a:prstGeom>
          <a:solidFill>
            <a:srgbClr val="1A2F45"/>
          </a:solidFill>
          <a:ln w="12700">
            <a:solidFill>
              <a:srgbClr val="6A4C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54296" y="868680"/>
            <a:ext cx="1325880" cy="73152"/>
          </a:xfrm>
          <a:prstGeom prst="rect">
            <a:avLst/>
          </a:prstGeom>
          <a:solidFill>
            <a:srgbClr val="6A4C93"/>
          </a:solidFill>
          <a:ln/>
        </p:spPr>
      </p:sp>
      <p:sp>
        <p:nvSpPr>
          <p:cNvPr id="31" name="Shape 29"/>
          <p:cNvSpPr/>
          <p:nvPr/>
        </p:nvSpPr>
        <p:spPr>
          <a:xfrm>
            <a:off x="5088636" y="1005840"/>
            <a:ext cx="457200" cy="457200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32" name="Text 30"/>
          <p:cNvSpPr/>
          <p:nvPr/>
        </p:nvSpPr>
        <p:spPr>
          <a:xfrm>
            <a:off x="5088636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00016" y="1536192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Anomaly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0016" y="233172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scale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470648" y="2148840"/>
            <a:ext cx="164592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44768" y="868680"/>
            <a:ext cx="1325880" cy="3840480"/>
          </a:xfrm>
          <a:prstGeom prst="rect">
            <a:avLst/>
          </a:prstGeom>
          <a:solidFill>
            <a:srgbClr val="1A2F45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44768" y="868680"/>
            <a:ext cx="132588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8" name="Shape 36"/>
          <p:cNvSpPr/>
          <p:nvPr/>
        </p:nvSpPr>
        <p:spPr>
          <a:xfrm>
            <a:off x="6579108" y="10058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9" name="Text 37"/>
          <p:cNvSpPr/>
          <p:nvPr/>
        </p:nvSpPr>
        <p:spPr>
          <a:xfrm>
            <a:off x="6579108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190488" y="1536192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Chain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90488" y="233172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Time-gap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risk agg.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635240" y="868680"/>
            <a:ext cx="1325880" cy="3840480"/>
          </a:xfrm>
          <a:prstGeom prst="rect">
            <a:avLst/>
          </a:prstGeom>
          <a:solidFill>
            <a:srgbClr val="1A2F45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635240" y="868680"/>
            <a:ext cx="132588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4" name="Shape 42"/>
          <p:cNvSpPr/>
          <p:nvPr/>
        </p:nvSpPr>
        <p:spPr>
          <a:xfrm>
            <a:off x="8069580" y="100584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5" name="Text 43"/>
          <p:cNvSpPr/>
          <p:nvPr/>
        </p:nvSpPr>
        <p:spPr>
          <a:xfrm>
            <a:off x="806958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680960" y="1536192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AI Report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680960" y="233172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+ Groq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a modular Python function — independently testable and replaceable.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F45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Forensic Pipeline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868680"/>
            <a:ext cx="2834640" cy="3931920"/>
          </a:xfrm>
          <a:prstGeom prst="rect">
            <a:avLst/>
          </a:prstGeom>
          <a:solidFill>
            <a:srgbClr val="1A2F4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68680"/>
            <a:ext cx="283464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05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Mordor Attack Simulation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13898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empire_launcher_vbs_2020-09-04160940.json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755648"/>
            <a:ext cx="2651760" cy="420624"/>
          </a:xfrm>
          <a:prstGeom prst="rect">
            <a:avLst/>
          </a:prstGeom>
          <a:solidFill>
            <a:srgbClr val="132435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77393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" y="177393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(lines=True)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2651760" cy="42062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2585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" y="225856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Mordor Dataset (open attack simulations)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2651760" cy="420624"/>
          </a:xfrm>
          <a:prstGeom prst="rect">
            <a:avLst/>
          </a:prstGeom>
          <a:solidFill>
            <a:srgbClr val="132435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7432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" y="274320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Empire VBS launcher — lateral movement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209544"/>
            <a:ext cx="2651760" cy="42062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2278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" y="322783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EventID, EventTime, Image, TargetFilename, Channel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694176"/>
            <a:ext cx="2651760" cy="420624"/>
          </a:xfrm>
          <a:prstGeom prst="rect">
            <a:avLst/>
          </a:prstGeom>
          <a:solidFill>
            <a:srgbClr val="132435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7124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" y="371246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EventType = 'Mordor Attack Simulation'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54680" y="868680"/>
            <a:ext cx="2834640" cy="3931920"/>
          </a:xfrm>
          <a:prstGeom prst="rect">
            <a:avLst/>
          </a:prstGeom>
          <a:solidFill>
            <a:srgbClr val="1A2F4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54680" y="868680"/>
            <a:ext cx="283464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8" name="Text 26"/>
          <p:cNvSpPr/>
          <p:nvPr/>
        </p:nvSpPr>
        <p:spPr>
          <a:xfrm>
            <a:off x="3246120" y="1005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Security Log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46120" y="13898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security_local.evtx → security.json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46120" y="1755648"/>
            <a:ext cx="2651760" cy="420624"/>
          </a:xfrm>
          <a:prstGeom prst="rect">
            <a:avLst/>
          </a:prstGeom>
          <a:solidFill>
            <a:srgbClr val="132435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0" y="177393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0" y="177393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EVTX → JSON via python-evtx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46120" y="2240280"/>
            <a:ext cx="2651760" cy="42062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0" y="22585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14800" y="225856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parse_security_event_xml()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46120" y="2724912"/>
            <a:ext cx="2651760" cy="420624"/>
          </a:xfrm>
          <a:prstGeom prst="rect">
            <a:avLst/>
          </a:prstGeom>
          <a:solidFill>
            <a:srgbClr val="132435"/>
          </a:solidFill>
          <a:ln/>
        </p:spPr>
      </p:sp>
      <p:sp>
        <p:nvSpPr>
          <p:cNvPr id="37" name="Text 35"/>
          <p:cNvSpPr/>
          <p:nvPr/>
        </p:nvSpPr>
        <p:spPr>
          <a:xfrm>
            <a:off x="3291840" y="27432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IDs: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0" y="274320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4624 Logon · 4625 Failed Logon · 1102 Log Clear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46120" y="3209544"/>
            <a:ext cx="2651760" cy="42062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0" name="Text 38"/>
          <p:cNvSpPr/>
          <p:nvPr/>
        </p:nvSpPr>
        <p:spPr>
          <a:xfrm>
            <a:off x="3291840" y="32278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114800" y="322783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EventID, TimeCreated, Provider, EventData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46120" y="3694176"/>
            <a:ext cx="2651760" cy="420624"/>
          </a:xfrm>
          <a:prstGeom prst="rect">
            <a:avLst/>
          </a:prstGeom>
          <a:solidFill>
            <a:srgbClr val="132435"/>
          </a:solidFill>
          <a:ln/>
        </p:spPr>
      </p:sp>
      <p:sp>
        <p:nvSpPr>
          <p:cNvPr id="43" name="Text 41"/>
          <p:cNvSpPr/>
          <p:nvPr/>
        </p:nvSpPr>
        <p:spPr>
          <a:xfrm>
            <a:off x="3291840" y="37124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114800" y="371246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EventType = 'Security Event'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26480" y="868680"/>
            <a:ext cx="2834640" cy="3931920"/>
          </a:xfrm>
          <a:prstGeom prst="rect">
            <a:avLst/>
          </a:prstGeom>
          <a:solidFill>
            <a:srgbClr val="1A2F4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26480" y="868680"/>
            <a:ext cx="283464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7" name="Text 45"/>
          <p:cNvSpPr/>
          <p:nvPr/>
        </p:nvSpPr>
        <p:spPr>
          <a:xfrm>
            <a:off x="6217920" y="1005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System Log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217920" y="13898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system_local.evtx → system.json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17920" y="1755648"/>
            <a:ext cx="2651760" cy="420624"/>
          </a:xfrm>
          <a:prstGeom prst="rect">
            <a:avLst/>
          </a:prstGeom>
          <a:solidFill>
            <a:srgbClr val="132435"/>
          </a:solidFill>
          <a:ln/>
        </p:spPr>
      </p:sp>
      <p:sp>
        <p:nvSpPr>
          <p:cNvPr id="50" name="Text 48"/>
          <p:cNvSpPr/>
          <p:nvPr/>
        </p:nvSpPr>
        <p:spPr>
          <a:xfrm>
            <a:off x="6263640" y="177393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086600" y="177393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EVTX → JSON via python-evtx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217920" y="2240280"/>
            <a:ext cx="2651760" cy="42062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3" name="Text 51"/>
          <p:cNvSpPr/>
          <p:nvPr/>
        </p:nvSpPr>
        <p:spPr>
          <a:xfrm>
            <a:off x="6263640" y="22585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Parser: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086600" y="225856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parse_system_event_xml()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217920" y="2724912"/>
            <a:ext cx="2651760" cy="420624"/>
          </a:xfrm>
          <a:prstGeom prst="rect">
            <a:avLst/>
          </a:prstGeom>
          <a:solidFill>
            <a:srgbClr val="132435"/>
          </a:solidFill>
          <a:ln/>
        </p:spPr>
      </p:sp>
      <p:sp>
        <p:nvSpPr>
          <p:cNvPr id="56" name="Text 54"/>
          <p:cNvSpPr/>
          <p:nvPr/>
        </p:nvSpPr>
        <p:spPr>
          <a:xfrm>
            <a:off x="6263640" y="27432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IDs: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086600" y="274320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7045 New Service · 7036 Service State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217920" y="3209544"/>
            <a:ext cx="2651760" cy="42062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9" name="Text 57"/>
          <p:cNvSpPr/>
          <p:nvPr/>
        </p:nvSpPr>
        <p:spPr>
          <a:xfrm>
            <a:off x="6263640" y="32278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086600" y="322783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EventID, TimeCreated, Provider, EventData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217920" y="3694176"/>
            <a:ext cx="2651760" cy="420624"/>
          </a:xfrm>
          <a:prstGeom prst="rect">
            <a:avLst/>
          </a:prstGeom>
          <a:solidFill>
            <a:srgbClr val="132435"/>
          </a:solidFill>
          <a:ln/>
        </p:spPr>
      </p:sp>
      <p:sp>
        <p:nvSpPr>
          <p:cNvPr id="62" name="Text 60"/>
          <p:cNvSpPr/>
          <p:nvPr/>
        </p:nvSpPr>
        <p:spPr>
          <a:xfrm>
            <a:off x="6263640" y="37124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Label: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086600" y="371246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EventType = 'System Event'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Hunting &amp; MITRE ATT&amp;CK Mapping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F45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Forensic Pipeline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3931920" cy="3840480"/>
          </a:xfrm>
          <a:prstGeom prst="rect">
            <a:avLst/>
          </a:prstGeom>
          <a:solidFill>
            <a:srgbClr val="1A2F4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9601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hunt_threats() — Rule Engine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417320"/>
            <a:ext cx="640080" cy="2743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417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115568" y="14173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EventID 1102: Audit Logs Cleared (Defense Evasion)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1892808"/>
            <a:ext cx="640080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892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115568" y="189280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EventID 7045: New Service Installed (Persistence)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368296"/>
            <a:ext cx="640080" cy="2743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3682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115568" y="236829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powershell: Suspicious keyword in description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843784"/>
            <a:ext cx="640080" cy="2743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843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115568" y="284378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.vbs / empire: Script-based execution indicators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319272"/>
            <a:ext cx="640080" cy="2743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3192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115568" y="33192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mimikatz: Credential dumping tool signature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794760"/>
            <a:ext cx="640080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794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15568" y="37947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Sysmon EventID 1: Process creation logged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89120" y="868680"/>
            <a:ext cx="4480560" cy="3840480"/>
          </a:xfrm>
          <a:prstGeom prst="rect">
            <a:avLst/>
          </a:prstGeom>
          <a:solidFill>
            <a:srgbClr val="1A2F4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1772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Coverage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26280" y="1389888"/>
            <a:ext cx="420624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4526280" y="13898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03520" y="13898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03720" y="1389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26280" y="1691640"/>
            <a:ext cx="4206240" cy="320040"/>
          </a:xfrm>
          <a:prstGeom prst="rect">
            <a:avLst/>
          </a:prstGeom>
          <a:solidFill>
            <a:srgbClr val="132435"/>
          </a:solidFill>
          <a:ln/>
        </p:spPr>
      </p:sp>
      <p:sp>
        <p:nvSpPr>
          <p:cNvPr id="34" name="Text 32"/>
          <p:cNvSpPr/>
          <p:nvPr/>
        </p:nvSpPr>
        <p:spPr>
          <a:xfrm>
            <a:off x="4526280" y="1691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T1059.001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303520" y="1691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903720" y="1691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26280" y="2029968"/>
            <a:ext cx="420624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202996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T1059.005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303520" y="20299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VBScript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903720" y="20299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26280" y="2368296"/>
            <a:ext cx="4206240" cy="320040"/>
          </a:xfrm>
          <a:prstGeom prst="rect">
            <a:avLst/>
          </a:prstGeom>
          <a:solidFill>
            <a:srgbClr val="132435"/>
          </a:solidFill>
          <a:ln/>
        </p:spPr>
      </p:sp>
      <p:sp>
        <p:nvSpPr>
          <p:cNvPr id="42" name="Text 40"/>
          <p:cNvSpPr/>
          <p:nvPr/>
        </p:nvSpPr>
        <p:spPr>
          <a:xfrm>
            <a:off x="4526280" y="236829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T1059.003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303520" y="236829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CMD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903720" y="236829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26280" y="2706624"/>
            <a:ext cx="420624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6" name="Text 44"/>
          <p:cNvSpPr/>
          <p:nvPr/>
        </p:nvSpPr>
        <p:spPr>
          <a:xfrm>
            <a:off x="4526280" y="270662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T1003.001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303520" y="270662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LSASS Dump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903720" y="27066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Access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26280" y="3044952"/>
            <a:ext cx="4206240" cy="320040"/>
          </a:xfrm>
          <a:prstGeom prst="rect">
            <a:avLst/>
          </a:prstGeom>
          <a:solidFill>
            <a:srgbClr val="132435"/>
          </a:solidFill>
          <a:ln/>
        </p:spPr>
      </p:sp>
      <p:sp>
        <p:nvSpPr>
          <p:cNvPr id="50" name="Text 48"/>
          <p:cNvSpPr/>
          <p:nvPr/>
        </p:nvSpPr>
        <p:spPr>
          <a:xfrm>
            <a:off x="4526280" y="304495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T1070.001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303520" y="30449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Event Logs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903720" y="30449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Evasion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26280" y="3383280"/>
            <a:ext cx="420624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4" name="Text 52"/>
          <p:cNvSpPr/>
          <p:nvPr/>
        </p:nvSpPr>
        <p:spPr>
          <a:xfrm>
            <a:off x="4526280" y="33832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T1543.003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303520" y="3383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Service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903720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526280" y="3721608"/>
            <a:ext cx="4206240" cy="320040"/>
          </a:xfrm>
          <a:prstGeom prst="rect">
            <a:avLst/>
          </a:prstGeom>
          <a:solidFill>
            <a:srgbClr val="132435"/>
          </a:solidFill>
          <a:ln/>
        </p:spPr>
      </p:sp>
      <p:sp>
        <p:nvSpPr>
          <p:cNvPr id="58" name="Text 56"/>
          <p:cNvSpPr/>
          <p:nvPr/>
        </p:nvSpPr>
        <p:spPr>
          <a:xfrm>
            <a:off x="4526280" y="372160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T1112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303520" y="37216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Registry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903720" y="37216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Evasion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526280" y="4059936"/>
            <a:ext cx="420624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2" name="Text 60"/>
          <p:cNvSpPr/>
          <p:nvPr/>
        </p:nvSpPr>
        <p:spPr>
          <a:xfrm>
            <a:off x="4526280" y="405993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T1053.005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303520" y="405993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903720" y="405993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6A4C93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Anomaly Detection — Isolation Forest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F45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Forensic Pipeline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023360" cy="3840480"/>
          </a:xfrm>
          <a:prstGeom prst="rect">
            <a:avLst/>
          </a:prstGeom>
          <a:solidFill>
            <a:srgbClr val="1A2F4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960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417320"/>
            <a:ext cx="3749040" cy="530352"/>
          </a:xfrm>
          <a:prstGeom prst="rect">
            <a:avLst/>
          </a:prstGeom>
          <a:solidFill>
            <a:srgbClr val="13243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4356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EventID_encoded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645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on EventID strings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984248"/>
            <a:ext cx="3749040" cy="5303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0025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Source_encoded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2128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on provider/channel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551176"/>
            <a:ext cx="3749040" cy="530352"/>
          </a:xfrm>
          <a:prstGeom prst="rect">
            <a:avLst/>
          </a:prstGeom>
          <a:solidFill>
            <a:srgbClr val="132435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5694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ProcessName_encoded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7797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Regex-extracted .exe, then encoded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118104"/>
            <a:ext cx="3749040" cy="5303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36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Time_numeric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3467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 timestamp → Unix seconds (int64)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685032"/>
            <a:ext cx="3749040" cy="530352"/>
          </a:xfrm>
          <a:prstGeom prst="rect">
            <a:avLst/>
          </a:prstGeom>
          <a:solidFill>
            <a:srgbClr val="132435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7033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TimeDelta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9136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between consecutive events, clipped at 3600s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80560" y="868680"/>
            <a:ext cx="4389120" cy="1737360"/>
          </a:xfrm>
          <a:prstGeom prst="rect">
            <a:avLst/>
          </a:prstGeom>
          <a:solidFill>
            <a:srgbClr val="1A2F4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0916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 Config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63440" y="13716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=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09360" y="13716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'auto' (inferred)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63440" y="16093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09360" y="16093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63440" y="18470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=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9360" y="18470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(reproducible)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63440" y="20848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n_jobs =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09360" y="20848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 (all cores)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480560" y="2788920"/>
            <a:ext cx="4389120" cy="1920240"/>
          </a:xfrm>
          <a:prstGeom prst="rect">
            <a:avLst/>
          </a:prstGeom>
          <a:solidFill>
            <a:srgbClr val="1A2F4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09160" y="28803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Columns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17720" y="3291840"/>
            <a:ext cx="54864" cy="2743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3291840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AnomalyScore_raw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0" y="341985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= anomaly  ·  +1 = normal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17720" y="3630168"/>
            <a:ext cx="54864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3630168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AnomalyScore_confidence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54880" y="3758184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decision_function() raw score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17720" y="3968496"/>
            <a:ext cx="54864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396849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RiskScore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54880" y="409651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→ 0–100 (higher = riskier)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17720" y="4306824"/>
            <a:ext cx="54864" cy="274320"/>
          </a:xfrm>
          <a:prstGeom prst="rect">
            <a:avLst/>
          </a:prstGeom>
          <a:solidFill>
            <a:srgbClr val="8FA3B1"/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4306824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ProcessName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54880" y="4434840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Regex-extracted executable name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Chain Identification &amp; AI Report Generation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F45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Forensic Pipeline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3931920" cy="3840480"/>
          </a:xfrm>
          <a:prstGeom prst="rect">
            <a:avLst/>
          </a:prstGeom>
          <a:solidFill>
            <a:srgbClr val="1A2F4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9601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build_attack_chains()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444752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463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16459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sorted chronologically by Timestamp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8368" y="1947672"/>
            <a:ext cx="0" cy="155448"/>
          </a:xfrm>
          <a:prstGeom prst="line">
            <a:avLst/>
          </a:prstGeom>
          <a:noFill/>
          <a:ln w="1270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10312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12140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detect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230428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gap &gt; 2 min → new chain begins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" y="2606040"/>
            <a:ext cx="0" cy="155448"/>
          </a:xfrm>
          <a:prstGeom prst="line">
            <a:avLst/>
          </a:prstGeom>
          <a:noFill/>
          <a:ln w="12700">
            <a:solidFill>
              <a:srgbClr val="F4A2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761488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277977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ID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296265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Incrementing integer assigned per chain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8368" y="3264408"/>
            <a:ext cx="0" cy="155448"/>
          </a:xfrm>
          <a:prstGeom prst="line">
            <a:avLst/>
          </a:prstGeom>
          <a:noFill/>
          <a:ln w="12700">
            <a:solidFill>
              <a:srgbClr val="F4A2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419856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419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43814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362102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Per-chain: EventCount, AvgRisk, MaxRisk, Techniques, Tactics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89120" y="868680"/>
            <a:ext cx="4480560" cy="3840480"/>
          </a:xfrm>
          <a:prstGeom prst="rect">
            <a:avLst/>
          </a:prstGeom>
          <a:solidFill>
            <a:srgbClr val="1A2F4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1772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 via Groq API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17720" y="13258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LLaMA-3.3-70B-Versatile  ·  max_tokens: 4000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1664208"/>
            <a:ext cx="4114800" cy="283464"/>
          </a:xfrm>
          <a:prstGeom prst="rect">
            <a:avLst/>
          </a:prstGeom>
          <a:solidFill>
            <a:srgbClr val="132435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167335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19472" y="16733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17720" y="1984248"/>
            <a:ext cx="4114800" cy="2834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19933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19472" y="1993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Timeline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17720" y="2304288"/>
            <a:ext cx="4114800" cy="283464"/>
          </a:xfrm>
          <a:prstGeom prst="rect">
            <a:avLst/>
          </a:prstGeom>
          <a:solidFill>
            <a:srgbClr val="132435"/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23134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19472" y="2313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Actor Behavior Analysis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17720" y="2624328"/>
            <a:ext cx="4114800" cy="2834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26334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19472" y="2633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IOCs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17720" y="2944368"/>
            <a:ext cx="4114800" cy="283464"/>
          </a:xfrm>
          <a:prstGeom prst="rect">
            <a:avLst/>
          </a:prstGeom>
          <a:solidFill>
            <a:srgbClr val="132435"/>
          </a:solidFill>
          <a:ln/>
        </p:spPr>
      </p:sp>
      <p:sp>
        <p:nvSpPr>
          <p:cNvPr id="44" name="Text 42"/>
          <p:cNvSpPr/>
          <p:nvPr/>
        </p:nvSpPr>
        <p:spPr>
          <a:xfrm>
            <a:off x="4663440" y="29535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19472" y="2953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Chain Reconstruction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17720" y="3264408"/>
            <a:ext cx="4114800" cy="2834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7" name="Text 45"/>
          <p:cNvSpPr/>
          <p:nvPr/>
        </p:nvSpPr>
        <p:spPr>
          <a:xfrm>
            <a:off x="4663440" y="327355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19472" y="32735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17720" y="3584448"/>
            <a:ext cx="4114800" cy="283464"/>
          </a:xfrm>
          <a:prstGeom prst="rect">
            <a:avLst/>
          </a:prstGeom>
          <a:solidFill>
            <a:srgbClr val="132435"/>
          </a:solidFill>
          <a:ln/>
        </p:spPr>
      </p:sp>
      <p:sp>
        <p:nvSpPr>
          <p:cNvPr id="50" name="Text 48"/>
          <p:cNvSpPr/>
          <p:nvPr/>
        </p:nvSpPr>
        <p:spPr>
          <a:xfrm>
            <a:off x="4663440" y="35935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919472" y="35935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Immediate Actions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617720" y="3904488"/>
            <a:ext cx="4114800" cy="2834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3" name="Text 51"/>
          <p:cNvSpPr/>
          <p:nvPr/>
        </p:nvSpPr>
        <p:spPr>
          <a:xfrm>
            <a:off x="4663440" y="39136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919472" y="39136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Notes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617720" y="4297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built from top anomalies, MITRE summary,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processes, and attack chains.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— Bugs &amp; Issues Found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F45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Forensic Pipeline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8595360" cy="969264"/>
          </a:xfrm>
          <a:prstGeom prst="rect">
            <a:avLst/>
          </a:prstGeom>
          <a:solidFill>
            <a:srgbClr val="1A2F4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73152" cy="9692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" y="896112"/>
            <a:ext cx="841248" cy="23774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89611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53312" y="87782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MITRE_MAPPINGS defined inside hunt_threats() after return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" y="11704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The dict is dead code — never executed. map_to_mitre() references MITRE_MAPPINGS as a global, causing a NameError crash at runtime.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23560" y="1152144"/>
            <a:ext cx="3154680" cy="402336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14" name="Text 12"/>
          <p:cNvSpPr/>
          <p:nvPr/>
        </p:nvSpPr>
        <p:spPr>
          <a:xfrm>
            <a:off x="5687568" y="11704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FIX: Move MITRE_MAPPINGS to module scope (top-level, before both functions).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1865376"/>
            <a:ext cx="8595360" cy="969264"/>
          </a:xfrm>
          <a:prstGeom prst="rect">
            <a:avLst/>
          </a:prstGeom>
          <a:solidFill>
            <a:srgbClr val="1A2F4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865376"/>
            <a:ext cx="73152" cy="9692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7" name="Shape 15"/>
          <p:cNvSpPr/>
          <p:nvPr/>
        </p:nvSpPr>
        <p:spPr>
          <a:xfrm>
            <a:off x="438912" y="1920240"/>
            <a:ext cx="841248" cy="23774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192024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53312" y="19019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map_to_mitre() references MITRE_MAPPINGS that doesn't exist in scope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8912" y="21945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Because the dict was never placed at module scope, every call to apply_threat_hunting_rules() crashes with NameError: 'MITRE_MAPPINGS' is not defined.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23560" y="2176272"/>
            <a:ext cx="3154680" cy="402336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22" name="Text 20"/>
          <p:cNvSpPr/>
          <p:nvPr/>
        </p:nvSpPr>
        <p:spPr>
          <a:xfrm>
            <a:off x="5687568" y="21945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FIX: Fixing Bug 1 (moving the dict to module scope) resolves this automatically.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889504"/>
            <a:ext cx="8595360" cy="969264"/>
          </a:xfrm>
          <a:prstGeom prst="rect">
            <a:avLst/>
          </a:prstGeom>
          <a:solidFill>
            <a:srgbClr val="1A2F4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889504"/>
            <a:ext cx="73152" cy="9692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5" name="Shape 23"/>
          <p:cNvSpPr/>
          <p:nvPr/>
        </p:nvSpPr>
        <p:spPr>
          <a:xfrm>
            <a:off x="438912" y="2944368"/>
            <a:ext cx="841248" cy="23774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" y="294436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53312" y="29260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index-based RiskScore assignment in identify_attack_chains()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38912" y="32186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ml_full is produced by reset_index(drop=True) inside perform_ml_anomaly_detection(), while threat_df retains the original filtered indices → index mismatch → NaN or wrong scores.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23560" y="3200400"/>
            <a:ext cx="3154680" cy="402336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30" name="Text 28"/>
          <p:cNvSpPr/>
          <p:nvPr/>
        </p:nvSpPr>
        <p:spPr>
          <a:xfrm>
            <a:off x="5687568" y="32186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FIX: Merge on a shared key (e.g. Timestamp + EventID) or pass ml_full before reset_index.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3913632"/>
            <a:ext cx="8595360" cy="969264"/>
          </a:xfrm>
          <a:prstGeom prst="rect">
            <a:avLst/>
          </a:prstGeom>
          <a:solidFill>
            <a:srgbClr val="1A2F4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913632"/>
            <a:ext cx="73152" cy="969264"/>
          </a:xfrm>
          <a:prstGeom prst="rect">
            <a:avLst/>
          </a:prstGeom>
          <a:solidFill>
            <a:srgbClr val="8FA3B1"/>
          </a:solidFill>
          <a:ln/>
        </p:spPr>
      </p:sp>
      <p:sp>
        <p:nvSpPr>
          <p:cNvPr id="33" name="Shape 31"/>
          <p:cNvSpPr/>
          <p:nvPr/>
        </p:nvSpPr>
        <p:spPr>
          <a:xfrm>
            <a:off x="438912" y="3968496"/>
            <a:ext cx="841248" cy="237744"/>
          </a:xfrm>
          <a:prstGeom prst="rect">
            <a:avLst/>
          </a:prstGeom>
          <a:solidFill>
            <a:srgbClr val="8FA3B1"/>
          </a:solidFill>
          <a:ln/>
        </p:spPr>
      </p:sp>
      <p:sp>
        <p:nvSpPr>
          <p:cNvPr id="34" name="Text 32"/>
          <p:cNvSpPr/>
          <p:nvPr/>
        </p:nvSpPr>
        <p:spPr>
          <a:xfrm>
            <a:off x="438912" y="396849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353312" y="39502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Mordor scalar defaults may not broadcast to DataFrame columns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38912" y="424281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When a column is absent, get() returns the scalar 0 (int). Assigning a scalar to an empty DataFrame column creates a NaN column, silently losing EventID data.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623560" y="4224528"/>
            <a:ext cx="3154680" cy="402336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38" name="Text 36"/>
          <p:cNvSpPr/>
          <p:nvPr/>
        </p:nvSpPr>
        <p:spPr>
          <a:xfrm>
            <a:off x="5687568" y="42428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FIX: Use df_mordor['EventID'] if 'EventID' in df_mordor.columns else pd.Series(0, index=df_mordor.index).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Recommendations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F45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Forensic Pipeline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023360" cy="1828800"/>
          </a:xfrm>
          <a:prstGeom prst="rect">
            <a:avLst/>
          </a:prstGeom>
          <a:solidFill>
            <a:srgbClr val="1A2F4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96012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Strengths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35331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6-stage pipeline — each function independently testable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68249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coverage across 8 techniques and 4 tactics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anomaly detection with interpretable 0–100 risk scores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34086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reports reduce analyst time significantly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4023360" cy="1783080"/>
          </a:xfrm>
          <a:prstGeom prst="rect">
            <a:avLst/>
          </a:prstGeom>
          <a:solidFill>
            <a:srgbClr val="1A2F4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92608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Future Improvements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31012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network logs (firewall, DNS) as a 4th data source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63931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ingestion with Kafka or Kinesis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96849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STIX/TAXII export for threat intel sharing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29768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Dash/Streamlit dashboard for live investigation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80560" y="868680"/>
            <a:ext cx="4389120" cy="3749040"/>
          </a:xfrm>
          <a:prstGeom prst="rect">
            <a:avLst/>
          </a:prstGeom>
          <a:solidFill>
            <a:srgbClr val="1A2F4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96012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Priority Action Items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17720" y="1371600"/>
            <a:ext cx="4160520" cy="457200"/>
          </a:xfrm>
          <a:prstGeom prst="rect">
            <a:avLst/>
          </a:prstGeom>
          <a:solidFill>
            <a:srgbClr val="132435"/>
          </a:solidFill>
          <a:ln/>
        </p:spPr>
      </p:sp>
      <p:sp>
        <p:nvSpPr>
          <p:cNvPr id="22" name="Shape 20"/>
          <p:cNvSpPr/>
          <p:nvPr/>
        </p:nvSpPr>
        <p:spPr>
          <a:xfrm>
            <a:off x="4617720" y="1371600"/>
            <a:ext cx="329184" cy="4572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137160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10912" y="13898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MITRE_MAPPINGS to module scope immediately — current code crashes on any threat-mapping call.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17720" y="1874520"/>
            <a:ext cx="416052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Shape 24"/>
          <p:cNvSpPr/>
          <p:nvPr/>
        </p:nvSpPr>
        <p:spPr>
          <a:xfrm>
            <a:off x="4617720" y="1874520"/>
            <a:ext cx="329184" cy="4572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187452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10912" y="189280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index alignment in identify_attack_chains() to prevent silent data corruption.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2377440"/>
            <a:ext cx="4160520" cy="457200"/>
          </a:xfrm>
          <a:prstGeom prst="rect">
            <a:avLst/>
          </a:prstGeom>
          <a:solidFill>
            <a:srgbClr val="132435"/>
          </a:solidFill>
          <a:ln/>
        </p:spPr>
      </p:sp>
      <p:sp>
        <p:nvSpPr>
          <p:cNvPr id="30" name="Shape 28"/>
          <p:cNvSpPr/>
          <p:nvPr/>
        </p:nvSpPr>
        <p:spPr>
          <a:xfrm>
            <a:off x="4617720" y="2377440"/>
            <a:ext cx="329184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1" name="Text 29"/>
          <p:cNvSpPr/>
          <p:nvPr/>
        </p:nvSpPr>
        <p:spPr>
          <a:xfrm>
            <a:off x="4617720" y="23774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10912" y="239572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scalar defaults in Mordor normalization with explicit pd.Series() fallbacks.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17720" y="2880360"/>
            <a:ext cx="416052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4" name="Shape 32"/>
          <p:cNvSpPr/>
          <p:nvPr/>
        </p:nvSpPr>
        <p:spPr>
          <a:xfrm>
            <a:off x="4617720" y="2880360"/>
            <a:ext cx="329184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5" name="Text 33"/>
          <p:cNvSpPr/>
          <p:nvPr/>
        </p:nvSpPr>
        <p:spPr>
          <a:xfrm>
            <a:off x="4617720" y="288036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10912" y="28986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unit tests for hunt_threats(), map_to_mitre(), and build_attack_chains().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17720" y="3383280"/>
            <a:ext cx="4160520" cy="457200"/>
          </a:xfrm>
          <a:prstGeom prst="rect">
            <a:avLst/>
          </a:prstGeom>
          <a:solidFill>
            <a:srgbClr val="132435"/>
          </a:solidFill>
          <a:ln/>
        </p:spPr>
      </p:sp>
      <p:sp>
        <p:nvSpPr>
          <p:cNvPr id="38" name="Shape 36"/>
          <p:cNvSpPr/>
          <p:nvPr/>
        </p:nvSpPr>
        <p:spPr>
          <a:xfrm>
            <a:off x="4617720" y="3383280"/>
            <a:ext cx="329184" cy="457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9" name="Text 37"/>
          <p:cNvSpPr/>
          <p:nvPr/>
        </p:nvSpPr>
        <p:spPr>
          <a:xfrm>
            <a:off x="4617720" y="33832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10912" y="340156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 hardcoded perform_evtx_conversion=False in orchestration cell.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17720" y="3886200"/>
            <a:ext cx="416052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2" name="Shape 40"/>
          <p:cNvSpPr/>
          <p:nvPr/>
        </p:nvSpPr>
        <p:spPr>
          <a:xfrm>
            <a:off x="4617720" y="3886200"/>
            <a:ext cx="329184" cy="457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3" name="Text 41"/>
          <p:cNvSpPr/>
          <p:nvPr/>
        </p:nvSpPr>
        <p:spPr>
          <a:xfrm>
            <a:off x="4617720" y="388620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10912" y="39044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input validation and error handling around EVTX and JSON file reads.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Forensic Analysis Pipeline</dc:title>
  <dc:subject>PptxGenJS Presentation</dc:subject>
  <dc:creator>Forensic Analysis Team</dc:creator>
  <cp:lastModifiedBy>Forensic Analysis Team</cp:lastModifiedBy>
  <cp:revision>1</cp:revision>
  <dcterms:created xsi:type="dcterms:W3CDTF">2026-04-07T11:37:58Z</dcterms:created>
  <dcterms:modified xsi:type="dcterms:W3CDTF">2026-04-07T11:37:58Z</dcterms:modified>
</cp:coreProperties>
</file>